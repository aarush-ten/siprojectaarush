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742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Scope: deterministic core plus optional Gemini wording with fallback, three backend-graded practice quizzes and initial Marathi navigation/onboarding. No live-provider success, complete localization, credential or pilot outcome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is a hypothesis from the project brief. Do not substitute fabricated population/survey/placement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Architecture: Next.js → FastAPI → pure matching/planning; SQLite stores public catalogs; localStorage stores guest progress. Source and scoring disclosures are in docs/architecture.md and docs/data-sources.md.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Costs exclude engineering time, devices, connectivity, supervision and support. Vercel Hobby and Render Free have usage/cold-start limits. Public deployment has not been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Pilot measures: consent/date/sample size, completion rate, time to roadmap, comprehension, usefulness, task completion and working-link rate. All are planned, not collected.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Applicant: Aarush Tendulkar; Team Lead, CYBERSTARS; team size 1. General Category, Education and Employability. Contact remains null; verify mandatory contact and qualification fields directly with the applicant. Guidance experts belong to the database, not the project roster. Organizer page asks PPTX while downloaded template asks PDF ≤10MB; follow the actual portal upload control. Source: https://www.sevainnovationchallenge.in/guidelines.html checked 25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•  REFERENCE PITCH DECK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2800">
                <a:solidFill>
                  <a:srgbClr val="FFFFFF"/>
                </a:solidFill>
                <a:latin typeface="Arial"/>
              </a:rPr>
              <a:t>PathForge AI | CYBERSTARS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FFFFFF"/>
                </a:solidFill>
                <a:latin typeface="Arial"/>
              </a:rPr>
              <a:t>Career pathways that respect a student's skills, time, device and budget.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777240"/>
            <a:ext cx="2834640" cy="3108960"/>
          </a:xfrm>
          <a:prstGeom prst="roundRect">
            <a:avLst>
              <a:gd name="adj" fmla="val 3226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035040" y="914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FFFFFF"/>
                </a:solidFill>
                <a:latin typeface="Arial"/>
              </a:rPr>
              <a:t>Working local prototype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1298448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050">
                <a:solidFill>
                  <a:srgbClr val="FFFFFF"/>
                </a:solidFill>
                <a:latin typeface="Arial"/>
              </a:rPr>
              <a:t>12 careers · 36 skills</a:t>
            </a:r>
            <a:endParaRPr lang="en-US" sz="1050" b="1" dirty="0"/>
          </a:p>
          <a:p>
            <a:r>
              <a:rPr sz="1050">
                <a:solidFill>
                  <a:srgbClr val="FFFFFF"/>
                </a:solidFill>
                <a:latin typeface="Arial"/>
              </a:rPr>
              <a:t>33 checked learning references</a:t>
            </a:r>
          </a:p>
          <a:p>
            <a:r>
              <a:rPr sz="1050">
                <a:solidFill>
                  <a:srgbClr val="FFFFFF"/>
                </a:solidFill>
                <a:latin typeface="Arial"/>
              </a:rPr>
              <a:t>Explained matching and weekly plans</a:t>
            </a:r>
          </a:p>
          <a:p>
            <a:r>
              <a:rPr sz="1050">
                <a:solidFill>
                  <a:srgbClr val="FFFFFF"/>
                </a:solidFill>
                <a:latin typeface="Arial"/>
              </a:rPr>
              <a:t>Progress saved on the student's browser</a:t>
            </a:r>
          </a:p>
          <a:p/>
          <a:p>
            <a:r>
              <a:rPr sz="1050">
                <a:solidFill>
                  <a:srgbClr val="FFFFFF"/>
                </a:solidFill>
                <a:latin typeface="Arial"/>
              </a:rPr>
              <a:t>Now: three practice quizzes, initial Marathi navigation/onboarding and optional AI wording with rules fallback. Live AI verification remains pending.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512064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>
                <a:solidFill>
                  <a:srgbClr val="FFFFFF"/>
                </a:solidFill>
                <a:latin typeface="Arial"/>
              </a:rPr>
              <a:t>General | Education &amp; Employability</a:t>
            </a:r>
          </a:p>
          <a:p>
            <a:r>
              <a:rPr sz="1200">
                <a:solidFill>
                  <a:srgbClr val="FFFFFF"/>
                </a:solidFill>
                <a:latin typeface="Arial"/>
              </a:rPr>
              <a:t>Working prototype: deterministic core + Phase 3</a:t>
            </a:r>
          </a:p>
          <a:p>
            <a:r>
              <a:rPr sz="1200">
                <a:solidFill>
                  <a:srgbClr val="FFFFFF"/>
                </a:solidFill>
                <a:latin typeface="Arial"/>
              </a:rPr>
              <a:t>Aarush Tendulkar | CYBERSTARS</a:t>
            </a:r>
          </a:p>
          <a:p>
            <a:r>
              <a:rPr sz="1200">
                <a:solidFill>
                  <a:srgbClr val="FFFFFF"/>
                </a:solidFill>
                <a:latin typeface="Arial"/>
              </a:rPr>
              <a:t>Local demonstration; public deployment pending</a:t>
            </a:r>
          </a:p>
        </p:txBody>
      </p:sp>
      <p:pic>
        <p:nvPicPr>
          <p:cNvPr id="21" name="Picture 20" descr="roadmap-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566160"/>
            <a:ext cx="2468880" cy="13887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3E38"/>
                </a:solidFill>
                <a:latin typeface="Arial"/>
              </a:rPr>
              <a:t>Problem hypothesis: career advice should account for practical learning constraints.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2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is the problem?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Students may know a career goal but struggle to connect current skills with realistic next steps. A useful plan needs to reflect time, device access and budget.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52044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Who is affected, and where?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Intended users: diploma, ITI, undergraduate and first-generation job seekers in Maharashtra and similar regions. No measured beneficiary count is claimed.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9436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No student interviews or field pilot yet. Problem and curriculum assumptions require local review. Current evidence is a working prototype and automated checks.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352044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gaps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Hypothesis to test: generic plans can overlook device access, prerequisite skills and available study hours. No competitor cost or speed benchmark has been performed.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188720"/>
            <a:ext cx="2377440" cy="3429000"/>
          </a:xfrm>
          <a:prstGeom prst="roundRect">
            <a:avLst>
              <a:gd name="adj" fmla="val 3846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800">
                <a:solidFill>
                  <a:srgbClr val="FFFFFF"/>
                </a:solidFill>
                <a:latin typeface="Arial"/>
              </a:rPr>
              <a:t>Not measured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FFFFFF"/>
                </a:solidFill>
                <a:latin typeface="Arial"/>
              </a:rPr>
              <a:t>Target reach is to be established through a consenting pilot.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383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Arial"/>
              </a:rPr>
              <a:t>Aim: make the next learning step understandable and feasible without promising a job.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&amp; Innovation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3E38"/>
                </a:solidFill>
                <a:latin typeface="Arial"/>
              </a:rPr>
              <a:t>Built: guest onboarding → explained matches → career gaps → weekly roadmap → local progress.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3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in brief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813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173E38"/>
                </a:solidFill>
                <a:latin typeface="Arial"/>
              </a:rPr>
              <a:t>A Next.js interface and FastAPI service calculate career matches with transparent rules. The planner schedules prerequisites, free references and activities within weekly hours, with explicit device limitations.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95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595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</a:t>
            </a:r>
            <a:endParaRPr lang="en-US" sz="112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Input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900">
                <a:solidFill>
                  <a:srgbClr val="173E38"/>
                </a:solidFill>
                <a:latin typeface="Arial"/>
              </a:rPr>
              <a:t>Skills, interests, time, budget and device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8288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311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22311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120" dirty="0"/>
          </a:p>
        </p:txBody>
      </p:sp>
      <p:sp>
        <p:nvSpPr>
          <p:cNvPr id="19" name="Text 17"/>
          <p:cNvSpPr txBox="1"/>
          <p:nvPr/>
        </p:nvSpPr>
        <p:spPr>
          <a:xfrm>
            <a:off x="19019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Process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900">
                <a:solidFill>
                  <a:srgbClr val="173E38"/>
                </a:solidFill>
                <a:latin typeface="Arial"/>
              </a:rPr>
              <a:t>Weighted matching + prerequisite planning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9992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2004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027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6027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120" dirty="0"/>
          </a:p>
        </p:txBody>
      </p:sp>
      <p:sp>
        <p:nvSpPr>
          <p:cNvPr id="25" name="Text 23"/>
          <p:cNvSpPr txBox="1"/>
          <p:nvPr/>
        </p:nvSpPr>
        <p:spPr>
          <a:xfrm>
            <a:off x="32735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Output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900">
                <a:solidFill>
                  <a:srgbClr val="173E38"/>
                </a:solidFill>
                <a:latin typeface="Arial"/>
              </a:rPr>
              <a:t>Three paths, exact gaps and weekly tasks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makes it new?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36192"/>
          <a:ext cx="393192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Baseline to validate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Current prototype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Cost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benchmarked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 paid API calls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Speed / time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benchmarked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Weekly hours constrained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Reach / access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benchmarked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Guest; phone limits explicit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Ease of use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benchmarked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Explained scores; pilot planned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475488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Key USP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3886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Same SOC goal: 6h/week + laptop gives 4 illustrative weeks; 4h/week + phone gives 6 weeks and theory alternatives. This is a design mechanism, not a validated novelty or patent claim.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Feasibility &amp; Implementation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3E38"/>
                </a:solidFill>
                <a:latin typeface="Arial"/>
              </a:rPr>
              <a:t>Working locally; public hosting and human validation remain pending.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4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stage (mark ✔ where you are today)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7315200" cy="0"/>
          </a:xfrm>
          <a:prstGeom prst="line">
            <a:avLst/>
          </a:prstGeom>
          <a:noFill/>
          <a:ln w="25400">
            <a:solidFill>
              <a:srgbClr val="C3CA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589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828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Idea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0116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Proof of Concept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165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8404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✓ Working Prototype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453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6692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Field Pilot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741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4980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Ready to Deploy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Next.js + FastAPI + SQLite. Deterministic core, optional Gemini wording with fallback, three practice quizzes, initial Marathi navigation/onboarding and protected expert administration. See verification for current limits.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269748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Estimated cost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Current demo: zero paid API calls; free public reading references. Free hosting is conditional on provider limits, not an always-on guarantee. Pilot staffing/device costs are not yet quoted.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80060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Proposed: 3 months—review mappings and a small consenting pilot; 6 months—evaluate usefulness and refine; 12 months—consider expansion if evidence supports it. These are targets, not completed milestones.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90372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Partners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No adoption or institutional partner confirmed. Seeking educators/counsellors for curriculum review and access to consenting students for a pilot.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5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Impact &amp; Scalability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3E38"/>
                </a:solidFill>
                <a:latin typeface="Arial"/>
              </a:rPr>
              <a:t>Intended impact; outcomes have not yet been measured.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5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800">
                <a:solidFill>
                  <a:srgbClr val="173E38"/>
                </a:solidFill>
                <a:latin typeface="Arial"/>
              </a:rPr>
              <a:t>Pilot planned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Beneficiaries reached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900">
                <a:solidFill>
                  <a:srgbClr val="173E38"/>
                </a:solidFill>
                <a:latin typeface="Arial"/>
              </a:rPr>
              <a:t>5–10 consenting students proposed; not recruited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4408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55848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800">
                <a:solidFill>
                  <a:srgbClr val="173E38"/>
                </a:solidFill>
                <a:latin typeface="Arial"/>
              </a:rPr>
              <a:t>Not measured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Saving in cost / time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900">
                <a:solidFill>
                  <a:srgbClr val="173E38"/>
                </a:solidFill>
                <a:latin typeface="Arial"/>
              </a:rPr>
              <a:t>No baseline time/cost comparison yet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71616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163056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800">
                <a:solidFill>
                  <a:srgbClr val="173E38"/>
                </a:solidFill>
                <a:latin typeface="Arial"/>
              </a:rPr>
              <a:t>Not measured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163056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Jobs or livelihoods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900">
                <a:solidFill>
                  <a:srgbClr val="173E38"/>
                </a:solidFill>
                <a:latin typeface="Arial"/>
              </a:rPr>
              <a:t>No placement or job-creation claim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Social impact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Aim: clearer career exploration for students with different devices, study hours and budgets. Phone alternatives support theory; practical work still needs appropriate access.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401568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01568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Current prototype avoids paid AI. Longer-term hosting, maintenance and curriculum review need a sustainable sponsor/institution model; no revenue or funding is claimed.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71616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208776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Scale-up plan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08776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Start with local curriculum review. Track explanation comprehension, usefulness (1–5), task completion and resource availability, then expand only after reviewing evidence.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Team/Individual &amp; Support Required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FFFFFF"/>
                </a:solidFill>
                <a:latin typeface="Arial"/>
              </a:rPr>
              <a:t>CYBERSTARS | Aarush Tendulkar, Team Lead | Team size: 1. Guidance experts are separate.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FFFFFF"/>
                </a:solidFill>
                <a:latin typeface="Arial"/>
              </a:rPr>
              <a:t>No photo supplied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353312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FFFFFF"/>
                </a:solidFill>
                <a:latin typeface="Arial"/>
              </a:rPr>
              <a:t>Aarush Tendulkar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773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FFFFFF"/>
                </a:solidFill>
                <a:latin typeface="Arial"/>
              </a:rPr>
              <a:t>Team Lead | CYBERSTARS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0939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FFFFFF"/>
                </a:solidFill>
                <a:latin typeface="Arial"/>
              </a:rPr>
              <a:t>Qualification: to be confirmed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840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FFFFFF"/>
                </a:solidFill>
                <a:latin typeface="Arial"/>
              </a:rPr>
              <a:t>Mentor / institutional partner: none confirmed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20640" y="118872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30352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Support we are seeking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49240" y="1764792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66928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173E38"/>
                </a:solidFill>
                <a:latin typeface="Arial"/>
              </a:rPr>
              <a:t>Requested: mentorship and curriculum review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49240" y="2148840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669280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173E38"/>
                </a:solidFill>
                <a:latin typeface="Arial"/>
              </a:rPr>
              <a:t>Requested: access to a consenting local pilot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49240" y="2532888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5669280" y="2505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173E38"/>
                </a:solidFill>
                <a:latin typeface="Arial"/>
              </a:rPr>
              <a:t>Funding needs: not quoted; define after pilot design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49240" y="2916936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5669280" y="2889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173E38"/>
                </a:solidFill>
                <a:latin typeface="Arial"/>
              </a:rPr>
              <a:t>Incubation: optional future support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49240" y="3300984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5669280" y="3273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173E38"/>
                </a:solidFill>
                <a:latin typeface="Arial"/>
              </a:rPr>
              <a:t>Requested: accessibility and evaluation guidance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30352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173E38"/>
                </a:solidFill>
                <a:latin typeface="Arial"/>
              </a:rPr>
              <a:t>Support would help test usefulness and feasibility with students before making impact or readiness claims.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343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FFFFFF"/>
                </a:solidFill>
                <a:latin typeface="Arial"/>
              </a:rPr>
              <a:t>Contact:  | Public demo URL: pending deployment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6 of 6</a:t>
            </a:r>
            <a:endParaRPr lang="en-US" sz="800" dirty="0"/>
          </a:p>
        </p:txBody>
      </p:sp>
      <p:sp>
        <p:nvSpPr>
          <p:cNvPr id="46" name="TextBox 45"/>
          <p:cNvSpPr txBox="1"/>
          <p:nvPr/>
        </p:nvSpPr>
        <p:spPr>
          <a:xfrm>
            <a:off x="457200" y="2651760"/>
            <a:ext cx="420624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>
                <a:solidFill>
                  <a:srgbClr val="FFFFFF"/>
                </a:solidFill>
                <a:latin typeface="Arial"/>
              </a:rPr>
              <a:t>Project team: Aarush Tendulkar, Team Lead. Team size: 1.</a:t>
            </a:r>
          </a:p>
          <a:p>
            <a:r>
              <a:rPr sz="1200">
                <a:solidFill>
                  <a:srgbClr val="FFFFFF"/>
                </a:solidFill>
                <a:latin typeface="Arial"/>
              </a:rPr>
              <a:t>Student guidance experts are managed separately in the application. No experts or institutional partners are confirmed.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1008</Words>
  <Application>Microsoft Office PowerPoint</Application>
  <PresentationFormat>On-screen Show (16:9)</PresentationFormat>
  <Paragraphs>138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Seva Innovation Challenge – Reference Pitch Deck</dc:title>
  <dc:subject>PptxGenJS Presentation</dc:subject>
  <dc:creator>PptxGenJS</dc:creator>
  <cp:lastModifiedBy>ceo_ispark@mssu.ac.in</cp:lastModifiedBy>
  <cp:revision>4</cp:revision>
  <dcterms:created xsi:type="dcterms:W3CDTF">2026-09-23T13:40:13Z</dcterms:created>
  <dcterms:modified xsi:type="dcterms:W3CDTF">2026-09-23T13:46:30Z</dcterms:modified>
</cp:coreProperties>
</file>